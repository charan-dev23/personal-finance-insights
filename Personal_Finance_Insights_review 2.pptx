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y="7772400" cx="10058400"/>
  <p:notesSz cx="10058400" cy="7772400"/>
  <p:defaultTextStyle>
    <a:defPPr>
      <a:defRPr kern="0"/>
    </a:def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9244" autoAdjust="0"/>
    <p:restoredTop sz="94660"/>
  </p:normalViewPr>
  <p:slideViewPr>
    <p:cSldViewPr>
      <p:cViewPr varScale="1">
        <p:scale>
          <a:sx n="98" d="100"/>
          <a:sy n="98" d="100"/>
        </p:scale>
        <p:origin x="205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104869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69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2300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104867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195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1048674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75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1048676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2300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1048582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lstStyle>
            <a:lvl1pPr>
              <a:defRPr b="1" sz="195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2300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104868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5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6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1048687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2300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1048689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0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1048691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">
  <p:cSld name="Blank">
    <p:bg>
      <p:bgPr>
        <a:solidFill>
          <a:schemeClr val="bg1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bg object 1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/>
        </p:spPr>
      </p:pic>
      <p:pic>
        <p:nvPicPr>
          <p:cNvPr id="2097154" name="bg object 1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/>
        </p:spPr>
      </p:pic>
      <p:pic>
        <p:nvPicPr>
          <p:cNvPr id="2097155" name="bg object 18"/>
          <p:cNvPicPr>
            <a:picLocks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/>
        </p:spPr>
      </p:pic>
      <p:sp>
        <p:nvSpPr>
          <p:cNvPr id="1048592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ah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bIns="0" lIns="0" rIns="0" rtlCol="0" tIns="0" wrap="square"/>
          <a:p/>
        </p:txBody>
      </p:sp>
      <p:pic>
        <p:nvPicPr>
          <p:cNvPr id="2097156" name="bg object 20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/>
        </p:spPr>
      </p:pic>
      <p:sp>
        <p:nvSpPr>
          <p:cNvPr id="1048593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1048595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2300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195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/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jpeg"/><Relationship Id="rId7" Type="http://schemas.openxmlformats.org/officeDocument/2006/relationships/image" Target="../media/image12.jpeg"/><Relationship Id="rId8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/>
        </p:spPr>
      </p:pic>
      <p:sp>
        <p:nvSpPr>
          <p:cNvPr id="1048586" name="TextBox 2"/>
          <p:cNvSpPr txBox="1"/>
          <p:nvPr/>
        </p:nvSpPr>
        <p:spPr>
          <a:xfrm>
            <a:off x="1463040" y="1051560"/>
            <a:ext cx="7315200" cy="523220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500">
                <a:solidFill>
                  <a:srgbClr val="233464"/>
                </a:solidFill>
                <a:latin typeface="Aptos"/>
              </a:defRPr>
            </a:pPr>
            <a:r>
              <a:rPr b="0" sz="2800" i="0">
                <a:latin typeface="Times New Roman"/>
              </a:rPr>
              <a:t>Data Analysis Essentials</a:t>
            </a:r>
          </a:p>
        </p:txBody>
      </p:sp>
      <p:sp>
        <p:nvSpPr>
          <p:cNvPr id="1048587" name="TextBox 3"/>
          <p:cNvSpPr txBox="1"/>
          <p:nvPr/>
        </p:nvSpPr>
        <p:spPr>
          <a:xfrm>
            <a:off x="1463040" y="1508760"/>
            <a:ext cx="7315200" cy="446276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300">
                <a:solidFill>
                  <a:srgbClr val="C25B30"/>
                </a:solidFill>
                <a:latin typeface="Aptos"/>
              </a:defRPr>
            </a:pPr>
            <a:r>
              <a:rPr b="0" i="0">
                <a:latin typeface="Times New Roman"/>
              </a:rPr>
              <a:t>Cornerstone Project</a:t>
            </a:r>
          </a:p>
        </p:txBody>
      </p:sp>
      <p:sp>
        <p:nvSpPr>
          <p:cNvPr id="1048588" name="TextBox 4"/>
          <p:cNvSpPr txBox="1"/>
          <p:nvPr/>
        </p:nvSpPr>
        <p:spPr>
          <a:xfrm>
            <a:off x="640080" y="2331720"/>
            <a:ext cx="8778240" cy="584775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3000">
                <a:solidFill>
                  <a:srgbClr val="233464"/>
                </a:solidFill>
                <a:latin typeface="Aptos"/>
              </a:defRPr>
            </a:pPr>
            <a:r>
              <a:rPr b="0" sz="3200" i="0">
                <a:latin typeface="Times New Roman"/>
              </a:rPr>
              <a:t>Personal Finance Insights</a:t>
            </a:r>
          </a:p>
        </p:txBody>
      </p:sp>
      <p:sp>
        <p:nvSpPr>
          <p:cNvPr id="1048589" name="TextBox 5"/>
          <p:cNvSpPr txBox="1"/>
          <p:nvPr/>
        </p:nvSpPr>
        <p:spPr>
          <a:xfrm>
            <a:off x="1188720" y="2907792"/>
            <a:ext cx="7680960" cy="802639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0" sz="1800">
                <a:solidFill>
                  <a:srgbClr val="375BA0"/>
                </a:solidFill>
                <a:latin typeface="Aptos"/>
              </a:defRPr>
            </a:pPr>
            <a:r>
              <a:rPr b="0" sz="2400" i="0">
                <a:latin typeface="Times New Roman"/>
              </a:rPr>
              <a:t>Sample Presentation Format – Exploratory Data Analysis</a:t>
            </a:r>
          </a:p>
        </p:txBody>
      </p:sp>
      <p:sp>
        <p:nvSpPr>
          <p:cNvPr id="1048590" name="TextBox 6"/>
          <p:cNvSpPr txBox="1"/>
          <p:nvPr/>
        </p:nvSpPr>
        <p:spPr>
          <a:xfrm>
            <a:off x="1051560" y="3657600"/>
            <a:ext cx="7955279" cy="2491741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1400">
                <a:solidFill>
                  <a:srgbClr val="2D2D2D"/>
                </a:solidFill>
                <a:latin typeface="Aptos"/>
              </a:defRPr>
            </a:pPr>
            <a:r>
              <a:rPr b="1" dirty="0" sz="2400" i="0" lang="en-US">
                <a:latin typeface="Times New Roman"/>
              </a:rPr>
              <a:t>P</a:t>
            </a:r>
            <a:r>
              <a:rPr b="1" dirty="0" sz="2400" i="0">
                <a:latin typeface="Times New Roman"/>
              </a:rPr>
              <a:t>resented by</a:t>
            </a:r>
          </a:p>
          <a:p>
            <a:r>
              <a:rPr dirty="0" i="0" lang="en-US">
                <a:latin typeface="Times New Roman"/>
              </a:rPr>
              <a:t>   </a:t>
            </a:r>
            <a:r>
              <a:rPr dirty="0" i="0" lang="en-US" err="1">
                <a:latin typeface="Times New Roman"/>
              </a:rPr>
              <a:t>M.Udaysaireddy</a:t>
            </a:r>
            <a:r>
              <a:rPr dirty="0" i="0" lang="en-US">
                <a:latin typeface="Times New Roman"/>
              </a:rPr>
              <a:t>  </a:t>
            </a:r>
            <a:r>
              <a:rPr dirty="0" i="0">
                <a:latin typeface="Times New Roman"/>
              </a:rPr>
              <a:t>(</a:t>
            </a:r>
            <a:r>
              <a:rPr dirty="0" i="0" lang="en-US">
                <a:latin typeface="Times New Roman"/>
              </a:rPr>
              <a:t>26B21CS063</a:t>
            </a:r>
            <a:r>
              <a:rPr dirty="0" i="0">
                <a:latin typeface="Times New Roman"/>
              </a:rPr>
              <a:t>)</a:t>
            </a:r>
            <a:r>
              <a:rPr dirty="0" i="0" lang="en-US">
                <a:latin typeface="Times New Roman"/>
              </a:rPr>
              <a:t> </a:t>
            </a:r>
          </a:p>
          <a:p>
            <a:r>
              <a:rPr dirty="0" lang="en-US">
                <a:latin typeface="Times New Roman"/>
              </a:rPr>
              <a:t>   </a:t>
            </a:r>
            <a:r>
              <a:rPr dirty="0" lang="en-US" err="1">
                <a:latin typeface="Times New Roman"/>
              </a:rPr>
              <a:t>P.Sai</a:t>
            </a:r>
            <a:r>
              <a:rPr dirty="0" lang="en-US">
                <a:latin typeface="Times New Roman"/>
              </a:rPr>
              <a:t> </a:t>
            </a:r>
            <a:r>
              <a:rPr dirty="0" lang="en-US" err="1">
                <a:latin typeface="Times New Roman"/>
              </a:rPr>
              <a:t>praneeth</a:t>
            </a:r>
            <a:r>
              <a:rPr dirty="0" lang="en-US">
                <a:latin typeface="Times New Roman"/>
              </a:rPr>
              <a:t>      </a:t>
            </a:r>
            <a:r>
              <a:rPr dirty="0" i="0" lang="en-US">
                <a:latin typeface="Times New Roman"/>
              </a:rPr>
              <a:t>(25b11CS288)</a:t>
            </a:r>
          </a:p>
          <a:p>
            <a:r>
              <a:rPr dirty="0" sz="2400" i="0" lang="en-US">
                <a:latin typeface="Times New Roman"/>
              </a:rPr>
              <a:t>  </a:t>
            </a:r>
            <a:r>
              <a:rPr dirty="0" i="0" lang="en-US" err="1">
                <a:latin typeface="Times New Roman"/>
              </a:rPr>
              <a:t>Y.N.S.Charan</a:t>
            </a:r>
            <a:r>
              <a:rPr dirty="0" i="0" lang="en-US">
                <a:latin typeface="Times New Roman"/>
              </a:rPr>
              <a:t>       (26B21CS097)</a:t>
            </a:r>
          </a:p>
          <a:p>
            <a:r>
              <a:rPr dirty="0" i="0" lang="en-US">
                <a:latin typeface="Times New Roman"/>
              </a:rPr>
              <a:t>   </a:t>
            </a:r>
            <a:r>
              <a:rPr dirty="0" i="0" lang="en-US" err="1">
                <a:latin typeface="Times New Roman"/>
              </a:rPr>
              <a:t>SK.Masthan</a:t>
            </a:r>
            <a:r>
              <a:rPr dirty="0" i="0" lang="en-US">
                <a:latin typeface="Times New Roman"/>
              </a:rPr>
              <a:t>         </a:t>
            </a:r>
            <a:r>
              <a:rPr dirty="0" i="0">
                <a:latin typeface="Times New Roman"/>
              </a:rPr>
              <a:t>(</a:t>
            </a:r>
            <a:r>
              <a:rPr dirty="0" i="0" lang="en-US">
                <a:latin typeface="Times New Roman"/>
              </a:rPr>
              <a:t>26b21CS096</a:t>
            </a:r>
            <a:r>
              <a:rPr dirty="0" i="0">
                <a:latin typeface="Times New Roman"/>
              </a:rPr>
              <a:t>)</a:t>
            </a:r>
          </a:p>
          <a:p>
            <a:r>
              <a:rPr dirty="0" lang="en-US">
                <a:latin typeface="Times New Roman"/>
              </a:rPr>
              <a:t> </a:t>
            </a:r>
            <a:endParaRPr dirty="0" i="0">
              <a:latin typeface="Times New Roman"/>
            </a:endParaRPr>
          </a:p>
          <a:p>
            <a:endParaRPr dirty="0" i="0" lang="en-US">
              <a:latin typeface="Times New Roman"/>
            </a:endParaRPr>
          </a:p>
          <a:p>
            <a:r>
              <a:rPr dirty="0" i="0" lang="en-US">
                <a:latin typeface="Times New Roman"/>
              </a:rPr>
              <a:t>  </a:t>
            </a:r>
            <a:r>
              <a:rPr dirty="0" i="0">
                <a:latin typeface="Times New Roman"/>
              </a:rPr>
              <a:t>Guide:</a:t>
            </a:r>
            <a:r>
              <a:rPr dirty="0" i="0" lang="en-US">
                <a:latin typeface="Times New Roman"/>
              </a:rPr>
              <a:t> Mr. </a:t>
            </a:r>
            <a:r>
              <a:rPr dirty="0" i="0" lang="en-US" err="1">
                <a:latin typeface="Times New Roman"/>
              </a:rPr>
              <a:t>K.Ashok</a:t>
            </a:r>
            <a:r>
              <a:rPr dirty="0" i="0" lang="en-US">
                <a:latin typeface="Times New Roman"/>
              </a:rPr>
              <a:t> Teja</a:t>
            </a:r>
            <a:r>
              <a:rPr dirty="0" i="0">
                <a:latin typeface="Times New Roman"/>
              </a:rPr>
              <a:t> , Assistant Professor, CSE Dept</a:t>
            </a:r>
            <a:r>
              <a:rPr b="1" dirty="0" i="0">
                <a:latin typeface="Times New Roman"/>
              </a:rPr>
              <a:t>.</a:t>
            </a:r>
          </a:p>
        </p:txBody>
      </p:sp>
      <p:sp>
        <p:nvSpPr>
          <p:cNvPr id="1048591" name="TextBox 7"/>
          <p:cNvSpPr txBox="1"/>
          <p:nvPr/>
        </p:nvSpPr>
        <p:spPr>
          <a:xfrm>
            <a:off x="914400" y="6446520"/>
            <a:ext cx="8229600" cy="400110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1300">
                <a:solidFill>
                  <a:srgbClr val="233464"/>
                </a:solidFill>
                <a:latin typeface="Aptos"/>
              </a:defRPr>
            </a:pPr>
            <a:r>
              <a:rPr b="0" sz="2000" i="0">
                <a:latin typeface="Times New Roman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grpSp>
        <p:nvGrpSpPr>
          <p:cNvPr id="28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2097158" name="object 4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59" name="object 5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60" name="object 6"/>
            <p:cNvPicPr>
              <a:picLocks/>
            </p:cNvPicPr>
            <p:nvPr/>
          </p:nvPicPr>
          <p:blipFill>
            <a:blip xmlns:r="http://schemas.openxmlformats.org/officeDocument/2006/relationships"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59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dirty="0"/>
            </a:p>
          </p:txBody>
        </p:sp>
      </p:grpSp>
      <p:sp>
        <p:nvSpPr>
          <p:cNvPr id="1048597" name="TextBox 9"/>
          <p:cNvSpPr txBox="1"/>
          <p:nvPr/>
        </p:nvSpPr>
        <p:spPr>
          <a:xfrm>
            <a:off x="2545080" y="269414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dirty="0" 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8" name="TextBox 10"/>
          <p:cNvSpPr txBox="1"/>
          <p:nvPr/>
        </p:nvSpPr>
        <p:spPr>
          <a:xfrm>
            <a:off x="1219200" y="1676400"/>
            <a:ext cx="7132320" cy="4091940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20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• Problem Understanding</a:t>
            </a:r>
          </a:p>
          <a:p>
            <a:r>
              <a:rPr b="0" dirty="0" sz="2400" i="0">
                <a:latin typeface="Times New Roman"/>
              </a:rPr>
              <a:t>• Introduction</a:t>
            </a:r>
          </a:p>
          <a:p>
            <a:r>
              <a:rPr b="0" dirty="0" sz="2400" i="0">
                <a:latin typeface="Times New Roman"/>
              </a:rPr>
              <a:t>• Current Approach &amp; Limitations</a:t>
            </a:r>
          </a:p>
          <a:p>
            <a:r>
              <a:rPr b="0" dirty="0" sz="2400" i="0">
                <a:latin typeface="Times New Roman"/>
              </a:rPr>
              <a:t>• Proposed Approach</a:t>
            </a:r>
          </a:p>
          <a:p>
            <a:r>
              <a:rPr b="0" dirty="0" sz="2400" i="0">
                <a:latin typeface="Times New Roman"/>
              </a:rPr>
              <a:t>• Dataset Description</a:t>
            </a:r>
          </a:p>
          <a:p>
            <a:r>
              <a:rPr b="0" dirty="0" sz="2400" i="0">
                <a:latin typeface="Times New Roman"/>
              </a:rPr>
              <a:t>• Requirements</a:t>
            </a:r>
          </a:p>
          <a:p>
            <a:r>
              <a:rPr b="0" dirty="0" sz="2400" i="0">
                <a:latin typeface="Times New Roman"/>
              </a:rPr>
              <a:t>• Methodology</a:t>
            </a:r>
          </a:p>
          <a:p>
            <a:r>
              <a:rPr b="0" dirty="0" sz="2400" i="0">
                <a:latin typeface="Times New Roman"/>
              </a:rPr>
              <a:t>• Data Visualization</a:t>
            </a:r>
          </a:p>
          <a:p>
            <a:r>
              <a:rPr b="0" dirty="0" sz="2400" i="0">
                <a:latin typeface="Times New Roman"/>
              </a:rPr>
              <a:t>• Key Insights &amp; Analysis</a:t>
            </a:r>
          </a:p>
          <a:p>
            <a:r>
              <a:rPr b="0" dirty="0" sz="2400" i="0">
                <a:latin typeface="Times New Roman"/>
              </a:rPr>
              <a:t>• Implementation Workflow</a:t>
            </a:r>
          </a:p>
          <a:p>
            <a:r>
              <a:rPr b="0" dirty="0" sz="2400" i="0">
                <a:latin typeface="Times New Roman"/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2097161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62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63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59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dirty="0"/>
            </a:p>
          </p:txBody>
        </p:sp>
      </p:grpSp>
      <p:pic>
        <p:nvPicPr>
          <p:cNvPr id="2097164" name="object 3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sp>
        <p:nvSpPr>
          <p:cNvPr id="1048600" name="TextBox 10"/>
          <p:cNvSpPr txBox="1"/>
          <p:nvPr/>
        </p:nvSpPr>
        <p:spPr>
          <a:xfrm>
            <a:off x="2658632" y="262328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PROBLEM UNDERSTANDING</a:t>
            </a:r>
          </a:p>
        </p:txBody>
      </p:sp>
      <p:sp>
        <p:nvSpPr>
          <p:cNvPr id="1048601" name="TextBox 11"/>
          <p:cNvSpPr txBox="1"/>
          <p:nvPr/>
        </p:nvSpPr>
        <p:spPr>
          <a:xfrm>
            <a:off x="609600" y="1524000"/>
            <a:ext cx="8686800" cy="3380740"/>
          </a:xfrm>
          <a:prstGeom prst="rect"/>
          <a:noFill/>
        </p:spPr>
        <p:txBody>
          <a:bodyPr wrap="square">
            <a:spAutoFit/>
          </a:bodyPr>
          <a:p>
            <a:pPr algn="just">
              <a:spcAft>
                <a:spcPts val="700"/>
              </a:spcAft>
              <a:defRPr b="0" sz="19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Individuals generate financial transaction data every day through bank accounts, cards, wallets, and digital payments. Raw financial records are often large, scattered, inconsistent, and difficult to interpret without structured analysis.</a:t>
            </a:r>
          </a:p>
          <a:p>
            <a:endParaRPr b="0" dirty="0" sz="2400" i="0">
              <a:latin typeface="Times New Roman"/>
            </a:endParaRPr>
          </a:p>
          <a:p>
            <a:r>
              <a:rPr b="0" dirty="0" sz="2400" i="0">
                <a:latin typeface="Times New Roman"/>
              </a:rPr>
              <a:t>This project applies exploratory data analysis (EDA) techniques in Python to clean personal finance data, uncover spending and savings patterns, and generate actionable financial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3"/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2097165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66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67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02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dirty="0"/>
            </a:p>
          </p:txBody>
        </p:sp>
      </p:grpSp>
      <p:pic>
        <p:nvPicPr>
          <p:cNvPr id="2097168" name="object 3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sp>
        <p:nvSpPr>
          <p:cNvPr id="1048603" name="TextBox 17"/>
          <p:cNvSpPr txBox="1"/>
          <p:nvPr/>
        </p:nvSpPr>
        <p:spPr>
          <a:xfrm>
            <a:off x="2468880" y="216336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Introduction</a:t>
            </a:r>
          </a:p>
        </p:txBody>
      </p:sp>
      <p:sp>
        <p:nvSpPr>
          <p:cNvPr id="1048604" name="TextBox 18"/>
          <p:cNvSpPr txBox="1"/>
          <p:nvPr/>
        </p:nvSpPr>
        <p:spPr>
          <a:xfrm>
            <a:off x="685800" y="1417320"/>
            <a:ext cx="8778240" cy="4447541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19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• Personal finance data is generated continuously through income, purchases, bills, transfers, and subscriptions.</a:t>
            </a:r>
          </a:p>
          <a:p>
            <a:r>
              <a:rPr b="0" dirty="0" sz="2400" i="0">
                <a:latin typeface="Times New Roman"/>
              </a:rPr>
              <a:t>• Useful financial insights are often hidden inside large transaction records.</a:t>
            </a:r>
          </a:p>
          <a:p>
            <a:r>
              <a:rPr b="0" dirty="0" sz="2400" i="0">
                <a:latin typeface="Times New Roman"/>
              </a:rPr>
              <a:t>• Raw data commonly contains missing values, duplicates, and inconsistent formats.</a:t>
            </a:r>
          </a:p>
          <a:p>
            <a:r>
              <a:rPr b="0" dirty="0" sz="2400" i="0">
                <a:latin typeface="Times New Roman"/>
              </a:rPr>
              <a:t>• Python-based data analysis helps clean, structure, and interpret financial information.</a:t>
            </a:r>
          </a:p>
          <a:p>
            <a:r>
              <a:rPr b="0" dirty="0" sz="2400" i="0">
                <a:latin typeface="Times New Roman"/>
              </a:rPr>
              <a:t>• This project uses Pandas, NumPy, Matplotlib, and Seaborn for analysis.</a:t>
            </a:r>
          </a:p>
          <a:p>
            <a:r>
              <a:rPr b="0" dirty="0" sz="2400" i="0">
                <a:latin typeface="Times New Roman"/>
              </a:rPr>
              <a:t>• Clear visualizations make spending patterns and trends easy to understand and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2097169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70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71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05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dirty="0"/>
            </a:p>
          </p:txBody>
        </p:sp>
      </p:grpSp>
      <p:pic>
        <p:nvPicPr>
          <p:cNvPr id="2097172" name="object 3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sp>
        <p:nvSpPr>
          <p:cNvPr id="1048606" name="TextBox 17"/>
          <p:cNvSpPr txBox="1"/>
          <p:nvPr/>
        </p:nvSpPr>
        <p:spPr>
          <a:xfrm>
            <a:off x="2667000" y="304800"/>
            <a:ext cx="518160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Current / Manual Approach</a:t>
            </a:r>
          </a:p>
        </p:txBody>
      </p:sp>
      <p:sp>
        <p:nvSpPr>
          <p:cNvPr id="1048607" name="TextBox 18"/>
          <p:cNvSpPr txBox="1"/>
          <p:nvPr/>
        </p:nvSpPr>
        <p:spPr>
          <a:xfrm>
            <a:off x="685800" y="1417320"/>
            <a:ext cx="8778240" cy="4447540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19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• Financial transactions are typically stored in bank statements, spreadsheets, CSV files, or multiple apps.</a:t>
            </a:r>
          </a:p>
          <a:p>
            <a:r>
              <a:rPr b="0" dirty="0" sz="2400" i="0">
                <a:latin typeface="Times New Roman"/>
              </a:rPr>
              <a:t>• Manual review of large transaction records is slow and error-prone.</a:t>
            </a:r>
          </a:p>
          <a:p>
            <a:r>
              <a:rPr b="0" dirty="0" sz="2400" i="0">
                <a:latin typeface="Times New Roman"/>
              </a:rPr>
              <a:t>• Identifying category-wise and month-wise spending patterns by hand is difficult.</a:t>
            </a:r>
          </a:p>
          <a:p>
            <a:r>
              <a:rPr b="0" dirty="0" sz="2400" i="0">
                <a:latin typeface="Times New Roman"/>
              </a:rPr>
              <a:t>• Missing values, duplicates, and inconsistent categories can go unnoticed.</a:t>
            </a:r>
          </a:p>
          <a:p>
            <a:r>
              <a:rPr b="0" dirty="0" sz="2400" i="0">
                <a:latin typeface="Times New Roman"/>
              </a:rPr>
              <a:t>• Raw transaction tables are hard to interpret without charts or visual summaries.</a:t>
            </a:r>
          </a:p>
          <a:p>
            <a:r>
              <a:rPr b="0" dirty="0" sz="2400" i="0">
                <a:latin typeface="Times New Roman"/>
              </a:rPr>
              <a:t>• Limited manual analysis makes it difficult to identify deeper spending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grpSp>
        <p:nvGrpSpPr>
          <p:cNvPr id="36" name="object 3"/>
          <p:cNvGrpSpPr/>
          <p:nvPr/>
        </p:nvGrpSpPr>
        <p:grpSpPr>
          <a:xfrm>
            <a:off x="2743200" y="0"/>
            <a:ext cx="5103904" cy="1198311"/>
            <a:chOff x="2648188" y="47148"/>
            <a:chExt cx="5103904" cy="1198311"/>
          </a:xfrm>
        </p:grpSpPr>
        <p:pic>
          <p:nvPicPr>
            <p:cNvPr id="2097174" name="object 4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75" name="object 5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76" name="object 6"/>
            <p:cNvPicPr>
              <a:picLocks/>
            </p:cNvPicPr>
            <p:nvPr/>
          </p:nvPicPr>
          <p:blipFill>
            <a:blip xmlns:r="http://schemas.openxmlformats.org/officeDocument/2006/relationships"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0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dirty="0"/>
            </a:p>
          </p:txBody>
        </p:sp>
      </p:grpSp>
      <p:sp>
        <p:nvSpPr>
          <p:cNvPr id="1048609" name="TextBox 17"/>
          <p:cNvSpPr txBox="1"/>
          <p:nvPr/>
        </p:nvSpPr>
        <p:spPr>
          <a:xfrm>
            <a:off x="2656251" y="179226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Limitations of Manual Analysis</a:t>
            </a:r>
          </a:p>
        </p:txBody>
      </p:sp>
      <p:sp>
        <p:nvSpPr>
          <p:cNvPr id="1048610" name="TextBox 18"/>
          <p:cNvSpPr txBox="1"/>
          <p:nvPr/>
        </p:nvSpPr>
        <p:spPr>
          <a:xfrm>
            <a:off x="685800" y="1325880"/>
            <a:ext cx="8778240" cy="4511040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18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• Manual analysis is time-consuming and does not scale.</a:t>
            </a:r>
          </a:p>
          <a:p>
            <a:r>
              <a:rPr b="0" dirty="0" sz="2400" i="0">
                <a:latin typeface="Times New Roman"/>
              </a:rPr>
              <a:t>• Large financial datasets are difficult to process consistently without automation.</a:t>
            </a:r>
          </a:p>
          <a:p>
            <a:r>
              <a:rPr b="0" dirty="0" sz="2400" i="0">
                <a:latin typeface="Times New Roman"/>
              </a:rPr>
              <a:t>• Missing and duplicate records can reduce analysis accuracy.</a:t>
            </a:r>
          </a:p>
          <a:p>
            <a:r>
              <a:rPr b="0" dirty="0" sz="2400" i="0">
                <a:latin typeface="Times New Roman"/>
              </a:rPr>
              <a:t>• Category-wise and trend-wise spending patterns are hard to visualize manually.</a:t>
            </a:r>
          </a:p>
          <a:p>
            <a:r>
              <a:rPr b="0" dirty="0" sz="2400" i="0">
                <a:latin typeface="Times New Roman"/>
              </a:rPr>
              <a:t>• Identifying unusual and recurring expenses is difficult without analytical tools.</a:t>
            </a:r>
          </a:p>
          <a:p>
            <a:r>
              <a:rPr b="0" dirty="0" sz="2400" i="0">
                <a:latin typeface="Times New Roman"/>
              </a:rPr>
              <a:t>• Manual processing increases the risk of calculation and classification errors.</a:t>
            </a:r>
          </a:p>
          <a:p>
            <a:r>
              <a:rPr b="0" dirty="0" sz="2400" i="0">
                <a:latin typeface="Times New Roman"/>
              </a:rPr>
              <a:t>• Limited analytical techniques reduce the overall usefulness of the financial data</a:t>
            </a:r>
            <a:r>
              <a:rPr b="0" dirty="0" sz="2800" i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grpSp>
        <p:nvGrpSpPr>
          <p:cNvPr id="38" name="object 3"/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2097178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79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11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dirty="0"/>
            </a:p>
          </p:txBody>
        </p:sp>
      </p:grpSp>
      <p:sp>
        <p:nvSpPr>
          <p:cNvPr id="1048612" name="TextBox 17"/>
          <p:cNvSpPr txBox="1"/>
          <p:nvPr/>
        </p:nvSpPr>
        <p:spPr>
          <a:xfrm>
            <a:off x="2743200" y="374808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Proposed Approach</a:t>
            </a:r>
          </a:p>
        </p:txBody>
      </p:sp>
      <p:sp>
        <p:nvSpPr>
          <p:cNvPr id="1048613" name="TextBox 18"/>
          <p:cNvSpPr txBox="1"/>
          <p:nvPr/>
        </p:nvSpPr>
        <p:spPr>
          <a:xfrm>
            <a:off x="777240" y="1234440"/>
            <a:ext cx="8503920" cy="3136756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19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• Dataset loading and initial exploration</a:t>
            </a:r>
          </a:p>
          <a:p>
            <a:r>
              <a:rPr b="0" dirty="0" sz="2400" i="0">
                <a:latin typeface="Times New Roman"/>
              </a:rPr>
              <a:t>• Data cleaning and missing-value handling</a:t>
            </a:r>
          </a:p>
          <a:p>
            <a:r>
              <a:rPr b="0" dirty="0" sz="2400" i="0">
                <a:latin typeface="Times New Roman"/>
              </a:rPr>
              <a:t>• Duplicate removal and preprocessing</a:t>
            </a:r>
          </a:p>
          <a:p>
            <a:r>
              <a:rPr b="0" dirty="0" sz="2400" i="0">
                <a:latin typeface="Times New Roman"/>
              </a:rPr>
              <a:t>• Income, expense, and savings analysis</a:t>
            </a:r>
            <a:endParaRPr b="0" dirty="0" sz="2400">
              <a:latin typeface="Times New Roman"/>
            </a:endParaRPr>
          </a:p>
          <a:p>
            <a:r>
              <a:rPr b="0" dirty="0" sz="2400">
                <a:latin typeface="Times New Roman"/>
              </a:rPr>
              <a:t>• Category-wise and account-wise analysis</a:t>
            </a:r>
          </a:p>
          <a:p>
            <a:r>
              <a:rPr b="0" dirty="0" sz="2400" i="0">
                <a:latin typeface="Times New Roman"/>
              </a:rPr>
              <a:t>• Monthly trend and budget variance analysis</a:t>
            </a:r>
          </a:p>
          <a:p>
            <a:r>
              <a:rPr b="0" dirty="0" sz="2400" i="0">
                <a:latin typeface="Times New Roman"/>
              </a:rPr>
              <a:t>• Data visualization (bar, pie, line, histogram, heatmap)</a:t>
            </a:r>
          </a:p>
          <a:p>
            <a:r>
              <a:rPr b="0" dirty="0" sz="2400" i="0">
                <a:latin typeface="Times New Roman"/>
              </a:rPr>
              <a:t>• Summary of key financial insights and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0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grpSp>
        <p:nvGrpSpPr>
          <p:cNvPr id="40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2097181" name="object 4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82" name="object 5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83" name="object 6"/>
            <p:cNvPicPr>
              <a:picLocks/>
            </p:cNvPicPr>
            <p:nvPr/>
          </p:nvPicPr>
          <p:blipFill>
            <a:blip xmlns:r="http://schemas.openxmlformats.org/officeDocument/2006/relationships"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14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dirty="0"/>
            </a:p>
          </p:txBody>
        </p:sp>
      </p:grpSp>
      <p:sp>
        <p:nvSpPr>
          <p:cNvPr id="1048615" name="TextBox 17"/>
          <p:cNvSpPr txBox="1"/>
          <p:nvPr/>
        </p:nvSpPr>
        <p:spPr>
          <a:xfrm>
            <a:off x="2722007" y="286489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DATASET DESCRIPTION</a:t>
            </a:r>
          </a:p>
        </p:txBody>
      </p:sp>
      <p:sp>
        <p:nvSpPr>
          <p:cNvPr id="1048616" name="TextBox 18"/>
          <p:cNvSpPr txBox="1"/>
          <p:nvPr/>
        </p:nvSpPr>
        <p:spPr>
          <a:xfrm>
            <a:off x="777240" y="1143000"/>
            <a:ext cx="8046720" cy="461665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1900">
                <a:solidFill>
                  <a:srgbClr val="233464"/>
                </a:solidFill>
                <a:latin typeface="Aptos"/>
              </a:defRPr>
            </a:pPr>
            <a:r>
              <a:rPr b="0" sz="2400" i="0">
                <a:latin typeface="Times New Roman"/>
              </a:rPr>
              <a:t>Personal Finance transaction dataset — replace the fields below with your actual dataset.</a:t>
            </a:r>
          </a:p>
        </p:txBody>
      </p:sp>
      <p:graphicFrame>
        <p:nvGraphicFramePr>
          <p:cNvPr id="4194304" name="Table 19"/>
          <p:cNvGraphicFramePr>
            <a:graphicFrameLocks noGrp="1"/>
          </p:cNvGraphicFramePr>
          <p:nvPr/>
        </p:nvGraphicFramePr>
        <p:xfrm>
          <a:off x="411480" y="1965960"/>
          <a:ext cx="4480560" cy="335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</a:tblGrid>
              <a:tr h="431074">
                <a:tc>
                  <a:txBody>
                    <a:bodyPr/>
                    <a:p>
                      <a:r>
                        <a:t>Field</a:t>
                      </a:r>
                    </a:p>
                  </a:txBody>
                  <a:tcPr marT="25400" marB="25400">
                    <a:solidFill>
                      <a:srgbClr val="233464"/>
                    </a:solidFill>
                  </a:tcPr>
                </a:tc>
                <a:tc>
                  <a:txBody>
                    <a:bodyPr/>
                    <a:p>
                      <a:r>
                        <a:t>Description</a:t>
                      </a:r>
                    </a:p>
                  </a:txBody>
                  <a:tcPr marT="25400" marB="25400">
                    <a:solidFill>
                      <a:srgbClr val="233464"/>
                    </a:solidFill>
                  </a:tcPr>
                </a:tc>
              </a:tr>
              <a:tr h="431074">
                <a:tc>
                  <a:txBody>
                    <a:bodyPr/>
                    <a:p>
                      <a:r>
                        <a:t>Date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t>Date of the transaction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p>
                      <a:r>
                        <a:t>Description</a:t>
                      </a:r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p>
                      <a:r>
                        <a:rPr dirty="0"/>
                        <a:t>Transaction description / merchant</a:t>
                      </a:r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</a:tr>
              <a:tr h="431074">
                <a:tc>
                  <a:txBody>
                    <a:bodyPr/>
                    <a:p>
                      <a:r>
                        <a:t>Amount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t>Transaction amount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p>
                      <a:r>
                        <a:t>Type</a:t>
                      </a:r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p>
                      <a:r>
                        <a:t>Income / Expense</a:t>
                      </a:r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</a:tr>
              <a:tr h="431074">
                <a:tc>
                  <a:txBody>
                    <a:bodyPr/>
                    <a:p>
                      <a:r>
                        <a:t>Category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t>Food, Bills, Travel, Shopping, etc.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p>
                      <a:r>
                        <a:t>Account</a:t>
                      </a:r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p>
                      <a:r>
                        <a:rPr dirty="0"/>
                        <a:t>Bank / Card / Wallet</a:t>
                      </a:r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048617" name="Rounded Rectangle 20"/>
          <p:cNvSpPr/>
          <p:nvPr/>
        </p:nvSpPr>
        <p:spPr>
          <a:xfrm>
            <a:off x="5074920" y="1965960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50800" lIns="101600" rIns="101600" rtlCol="0" tIns="50800" wrap="square"/>
          <a:p>
            <a:pPr algn="ctr"/>
            <a:r>
              <a:rPr b="1" dirty="0" sz="1300" i="0">
                <a:solidFill>
                  <a:schemeClr val="tx2"/>
                </a:solidFill>
                <a:latin typeface="Times New Roman"/>
              </a:rPr>
              <a:t>Dataset Snapshot</a:t>
            </a:r>
          </a:p>
          <a:p>
            <a:r>
              <a:rPr b="1" dirty="0" sz="1300" i="0">
                <a:solidFill>
                  <a:schemeClr val="tx2"/>
                </a:solidFill>
                <a:latin typeface="Times New Roman"/>
              </a:rPr>
              <a:t>Example: transaction-level records | replace with actual record count</a:t>
            </a:r>
          </a:p>
        </p:txBody>
      </p:sp>
      <p:sp>
        <p:nvSpPr>
          <p:cNvPr id="1048618" name="Rounded Rectangle 21"/>
          <p:cNvSpPr/>
          <p:nvPr/>
        </p:nvSpPr>
        <p:spPr>
          <a:xfrm>
            <a:off x="5074920" y="2971800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50800" lIns="101600" rIns="101600" rtlCol="0" tIns="50800" wrap="square"/>
          <a:p>
            <a:pPr algn="ctr"/>
            <a:r>
              <a:rPr b="1" dirty="0" sz="1300" i="0">
                <a:solidFill>
                  <a:schemeClr val="tx2"/>
                </a:solidFill>
                <a:latin typeface="Times New Roman"/>
              </a:rPr>
              <a:t>Data Quality Checks</a:t>
            </a:r>
          </a:p>
          <a:p>
            <a:r>
              <a:rPr b="1" dirty="0" sz="1300" i="0">
                <a:solidFill>
                  <a:schemeClr val="tx2"/>
                </a:solidFill>
                <a:latin typeface="Times New Roman"/>
              </a:rPr>
              <a:t>Missing values handled • Duplicates removed • Categories standardized</a:t>
            </a:r>
          </a:p>
        </p:txBody>
      </p:sp>
      <p:sp>
        <p:nvSpPr>
          <p:cNvPr id="1048619" name="Rounded Rectangle 22"/>
          <p:cNvSpPr/>
          <p:nvPr/>
        </p:nvSpPr>
        <p:spPr>
          <a:xfrm>
            <a:off x="5074920" y="3977639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50800" lIns="101600" rIns="101600" rtlCol="0" tIns="50800" wrap="square"/>
          <a:p>
            <a:pPr algn="ctr"/>
            <a:r>
              <a:rPr b="1" dirty="0" sz="1300" i="0">
                <a:solidFill>
                  <a:schemeClr val="tx2"/>
                </a:solidFill>
                <a:latin typeface="Times New Roman"/>
              </a:rPr>
              <a:t>Tools &amp; Libraries</a:t>
            </a:r>
          </a:p>
          <a:p>
            <a:r>
              <a:rPr b="1" dirty="0" sz="1300" i="0">
                <a:solidFill>
                  <a:schemeClr val="tx2"/>
                </a:solidFill>
                <a:latin typeface="Times New Roman"/>
              </a:rPr>
              <a:t>Python • Pandas • NumPy • Matplotlib • Seaborn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object 3"/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2097184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85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86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20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dirty="0"/>
            </a:p>
          </p:txBody>
        </p:sp>
      </p:grpSp>
      <p:pic>
        <p:nvPicPr>
          <p:cNvPr id="2097187" name="object 3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sp>
        <p:nvSpPr>
          <p:cNvPr id="1048621" name="TextBox 17"/>
          <p:cNvSpPr txBox="1"/>
          <p:nvPr/>
        </p:nvSpPr>
        <p:spPr>
          <a:xfrm>
            <a:off x="2743200" y="256032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REQUIREMENTS</a:t>
            </a:r>
          </a:p>
        </p:txBody>
      </p:sp>
      <p:sp>
        <p:nvSpPr>
          <p:cNvPr id="1048622" name="TextBox 18"/>
          <p:cNvSpPr txBox="1"/>
          <p:nvPr/>
        </p:nvSpPr>
        <p:spPr>
          <a:xfrm>
            <a:off x="533400" y="1255910"/>
            <a:ext cx="3840480" cy="461665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1" sz="2000">
                <a:solidFill>
                  <a:srgbClr val="233464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Hardware Requirements</a:t>
            </a:r>
          </a:p>
        </p:txBody>
      </p:sp>
      <p:sp>
        <p:nvSpPr>
          <p:cNvPr id="1048623" name="TextBox 19"/>
          <p:cNvSpPr txBox="1"/>
          <p:nvPr/>
        </p:nvSpPr>
        <p:spPr>
          <a:xfrm>
            <a:off x="822960" y="1737360"/>
            <a:ext cx="3840480" cy="1290097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18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• Processor: Intel i3 or above</a:t>
            </a:r>
          </a:p>
          <a:p>
            <a:r>
              <a:rPr b="0" dirty="0" sz="2400" i="0">
                <a:latin typeface="Times New Roman"/>
              </a:rPr>
              <a:t>• </a:t>
            </a:r>
            <a:r>
              <a:rPr dirty="0" sz="2400" i="0">
                <a:latin typeface="Times New Roman"/>
              </a:rPr>
              <a:t>RAM: Minimum 4 GB</a:t>
            </a:r>
          </a:p>
          <a:p>
            <a:r>
              <a:rPr b="0" dirty="0" sz="2400" i="0">
                <a:latin typeface="Times New Roman"/>
              </a:rPr>
              <a:t>• Storage: 20 GB</a:t>
            </a:r>
          </a:p>
        </p:txBody>
      </p:sp>
      <p:sp>
        <p:nvSpPr>
          <p:cNvPr id="1048624" name="TextBox 20"/>
          <p:cNvSpPr txBox="1"/>
          <p:nvPr/>
        </p:nvSpPr>
        <p:spPr>
          <a:xfrm>
            <a:off x="533400" y="3346000"/>
            <a:ext cx="3840480" cy="461665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1" sz="2000">
                <a:solidFill>
                  <a:srgbClr val="233464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Software Requirements</a:t>
            </a:r>
            <a:endParaRPr dirty="0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5" name="TextBox 21"/>
          <p:cNvSpPr txBox="1"/>
          <p:nvPr/>
        </p:nvSpPr>
        <p:spPr>
          <a:xfrm>
            <a:off x="872251" y="4121344"/>
            <a:ext cx="4023360" cy="2757165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18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• Windows</a:t>
            </a:r>
          </a:p>
          <a:p>
            <a:r>
              <a:rPr b="0" dirty="0" sz="2400" i="0">
                <a:latin typeface="Times New Roman"/>
              </a:rPr>
              <a:t>• Python</a:t>
            </a:r>
          </a:p>
          <a:p>
            <a:r>
              <a:rPr b="0" dirty="0" sz="2400" i="0">
                <a:latin typeface="Times New Roman"/>
              </a:rPr>
              <a:t>• Google </a:t>
            </a:r>
            <a:r>
              <a:rPr b="0" dirty="0" sz="2400" i="0" err="1">
                <a:latin typeface="Times New Roman"/>
              </a:rPr>
              <a:t>Colab</a:t>
            </a:r>
            <a:endParaRPr b="0" dirty="0" sz="2400" i="0">
              <a:latin typeface="Times New Roman"/>
            </a:endParaRPr>
          </a:p>
          <a:p>
            <a:r>
              <a:rPr b="0" dirty="0" sz="2400" i="0">
                <a:latin typeface="Times New Roman"/>
              </a:rPr>
              <a:t>• Pandas</a:t>
            </a:r>
          </a:p>
          <a:p>
            <a:r>
              <a:rPr b="0" dirty="0" sz="2400" i="0">
                <a:latin typeface="Times New Roman"/>
              </a:rPr>
              <a:t>• NumPy</a:t>
            </a:r>
          </a:p>
          <a:p>
            <a:r>
              <a:rPr b="0" dirty="0" sz="2400" i="0">
                <a:latin typeface="Times New Roman"/>
              </a:rPr>
              <a:t>• Matplotlib / Seaborn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097188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89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90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2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sz="2000"/>
            </a:p>
          </p:txBody>
        </p:sp>
      </p:grpSp>
      <p:pic>
        <p:nvPicPr>
          <p:cNvPr id="2097191" name="object 3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sp>
        <p:nvSpPr>
          <p:cNvPr id="1048627" name="TextBox 11"/>
          <p:cNvSpPr txBox="1"/>
          <p:nvPr/>
        </p:nvSpPr>
        <p:spPr>
          <a:xfrm>
            <a:off x="2468880" y="368253"/>
            <a:ext cx="5120640" cy="400110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sz="2000" i="0">
                <a:solidFill>
                  <a:schemeClr val="bg1"/>
                </a:solidFill>
                <a:latin typeface="Times New Roman"/>
              </a:rPr>
              <a:t>METHODOLOGY</a:t>
            </a:r>
          </a:p>
        </p:txBody>
      </p:sp>
      <p:sp>
        <p:nvSpPr>
          <p:cNvPr id="1048628" name="TextBox 19"/>
          <p:cNvSpPr txBox="1"/>
          <p:nvPr/>
        </p:nvSpPr>
        <p:spPr>
          <a:xfrm>
            <a:off x="290198" y="1209277"/>
            <a:ext cx="9770832" cy="1200329"/>
          </a:xfrm>
          <a:prstGeom prst="rect"/>
          <a:noFill/>
        </p:spPr>
        <p:txBody>
          <a:bodyPr rtlCol="0" wrap="square">
            <a:spAutoFit/>
          </a:bodyPr>
          <a:p>
            <a:pPr algn="l"/>
            <a:r>
              <a:rPr b="1" dirty="0" sz="2400" i="0">
                <a:latin typeface="Times New Roman"/>
              </a:rPr>
              <a:t>Module 1 – </a:t>
            </a:r>
            <a:r>
              <a:rPr b="1" dirty="0" sz="2400" i="0">
                <a:solidFill>
                  <a:schemeClr val="tx2"/>
                </a:solidFill>
                <a:latin typeface="Times New Roman"/>
              </a:rPr>
              <a:t>Data Collection</a:t>
            </a:r>
          </a:p>
          <a:p>
            <a:r>
              <a:rPr b="1" dirty="0" sz="2400" i="0" lang="en-US">
                <a:latin typeface="Times New Roman"/>
              </a:rPr>
              <a:t>                             </a:t>
            </a:r>
            <a:r>
              <a:rPr dirty="0" sz="2400" i="0">
                <a:latin typeface="Times New Roman"/>
              </a:rPr>
              <a:t>Import required Python libraries.</a:t>
            </a:r>
          </a:p>
          <a:p>
            <a:r>
              <a:rPr dirty="0" sz="2400" i="0" lang="en-US">
                <a:latin typeface="Times New Roman"/>
              </a:rPr>
              <a:t>                             </a:t>
            </a:r>
            <a:r>
              <a:rPr dirty="0" sz="2400" i="0">
                <a:latin typeface="Times New Roman"/>
              </a:rPr>
              <a:t>Load the personal finance dataset using Pandas.</a:t>
            </a:r>
          </a:p>
        </p:txBody>
      </p:sp>
      <p:sp>
        <p:nvSpPr>
          <p:cNvPr id="1048629" name="Arrow: Down 3"/>
          <p:cNvSpPr/>
          <p:nvPr/>
        </p:nvSpPr>
        <p:spPr>
          <a:xfrm>
            <a:off x="4796282" y="2373939"/>
            <a:ext cx="357728" cy="311657"/>
          </a:xfrm>
          <a:prstGeom prst="downArrow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algn="tl" blurRad="38100" dir="2700000" dist="19050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8630" name="TextBox 12"/>
          <p:cNvSpPr txBox="1"/>
          <p:nvPr/>
        </p:nvSpPr>
        <p:spPr>
          <a:xfrm>
            <a:off x="290198" y="2615936"/>
            <a:ext cx="9615802" cy="1200329"/>
          </a:xfrm>
          <a:prstGeom prst="rect"/>
          <a:noFill/>
        </p:spPr>
        <p:txBody>
          <a:bodyPr rtlCol="0" wrap="square">
            <a:spAutoFit/>
          </a:bodyPr>
          <a:p>
            <a:pPr algn="l"/>
            <a:r>
              <a:rPr b="1" dirty="0" sz="2400" i="0">
                <a:latin typeface="Times New Roman"/>
              </a:rPr>
              <a:t>Module 2 – </a:t>
            </a:r>
            <a:r>
              <a:rPr b="1" dirty="0" sz="2400" i="0">
                <a:solidFill>
                  <a:schemeClr val="tx2"/>
                </a:solidFill>
                <a:latin typeface="Times New Roman"/>
              </a:rPr>
              <a:t>Data Exploration</a:t>
            </a:r>
          </a:p>
          <a:p>
            <a:r>
              <a:rPr dirty="0" sz="2400" i="0" lang="en-US">
                <a:latin typeface="Times New Roman"/>
              </a:rPr>
              <a:t>                            </a:t>
            </a:r>
            <a:r>
              <a:rPr dirty="0" sz="2400" i="0">
                <a:latin typeface="Times New Roman"/>
              </a:rPr>
              <a:t>Check dataset size and structure.</a:t>
            </a:r>
          </a:p>
          <a:p>
            <a:r>
              <a:rPr dirty="0" sz="2400" i="0" lang="en-US">
                <a:latin typeface="Times New Roman"/>
              </a:rPr>
              <a:t>                            </a:t>
            </a:r>
            <a:r>
              <a:rPr dirty="0" sz="2400" i="0">
                <a:latin typeface="Times New Roman"/>
              </a:rPr>
              <a:t>Identify column names and data types.</a:t>
            </a:r>
          </a:p>
        </p:txBody>
      </p:sp>
      <p:sp>
        <p:nvSpPr>
          <p:cNvPr id="1048631" name="Arrow: Down 14"/>
          <p:cNvSpPr/>
          <p:nvPr/>
        </p:nvSpPr>
        <p:spPr>
          <a:xfrm>
            <a:off x="4756604" y="3814644"/>
            <a:ext cx="357728" cy="311657"/>
          </a:xfrm>
          <a:prstGeom prst="downArrow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algn="tl" blurRad="38100" dir="2700000" dist="19050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8632" name="TextBox 15"/>
          <p:cNvSpPr txBox="1"/>
          <p:nvPr/>
        </p:nvSpPr>
        <p:spPr>
          <a:xfrm>
            <a:off x="290198" y="4228925"/>
            <a:ext cx="8139189" cy="1200329"/>
          </a:xfrm>
          <a:prstGeom prst="rect"/>
          <a:noFill/>
        </p:spPr>
        <p:txBody>
          <a:bodyPr rtlCol="0" wrap="square">
            <a:spAutoFit/>
          </a:bodyPr>
          <a:p>
            <a:pPr algn="l"/>
            <a:r>
              <a:rPr b="1" dirty="0" sz="2400" i="0">
                <a:latin typeface="Times New Roman"/>
              </a:rPr>
              <a:t>Module 3 – </a:t>
            </a:r>
            <a:r>
              <a:rPr b="1" dirty="0" sz="2400" i="0">
                <a:solidFill>
                  <a:schemeClr val="tx2"/>
                </a:solidFill>
                <a:latin typeface="Times New Roman"/>
              </a:rPr>
              <a:t>Data Cleaning</a:t>
            </a:r>
          </a:p>
          <a:p>
            <a:pPr algn="ctr"/>
            <a:r>
              <a:rPr b="1" dirty="0" sz="2400" i="0" lang="en-US">
                <a:latin typeface="Times New Roman"/>
              </a:rPr>
              <a:t>     </a:t>
            </a:r>
            <a:r>
              <a:rPr dirty="0" sz="2400" i="0">
                <a:latin typeface="Times New Roman"/>
              </a:rPr>
              <a:t>Identify and fill missing values.</a:t>
            </a:r>
          </a:p>
          <a:p>
            <a:pPr algn="ctr"/>
            <a:r>
              <a:rPr dirty="0" sz="2400" i="0" lang="en-US">
                <a:latin typeface="Times New Roman"/>
              </a:rPr>
              <a:t>                 </a:t>
            </a:r>
            <a:r>
              <a:rPr dirty="0" sz="2400" i="0">
                <a:latin typeface="Times New Roman"/>
              </a:rPr>
              <a:t>Remove duplicate transaction records</a:t>
            </a:r>
            <a:r>
              <a:rPr b="1" dirty="0" sz="2400" i="0">
                <a:latin typeface="Times New Roman"/>
              </a:rPr>
              <a:t>.</a:t>
            </a:r>
          </a:p>
        </p:txBody>
      </p:sp>
      <p:sp>
        <p:nvSpPr>
          <p:cNvPr id="1048633" name="Arrow: Down 17"/>
          <p:cNvSpPr/>
          <p:nvPr/>
        </p:nvSpPr>
        <p:spPr>
          <a:xfrm>
            <a:off x="4754386" y="5469412"/>
            <a:ext cx="357728" cy="311657"/>
          </a:xfrm>
          <a:prstGeom prst="downArrow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algn="tl" blurRad="38100" dir="2700000" dist="19050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8634" name="TextBox 20"/>
          <p:cNvSpPr txBox="1"/>
          <p:nvPr/>
        </p:nvSpPr>
        <p:spPr>
          <a:xfrm>
            <a:off x="290198" y="5781069"/>
            <a:ext cx="9456101" cy="1200329"/>
          </a:xfrm>
          <a:prstGeom prst="rect"/>
          <a:noFill/>
        </p:spPr>
        <p:txBody>
          <a:bodyPr wrap="square">
            <a:spAutoFit/>
          </a:bodyPr>
          <a:p>
            <a:pPr algn="l">
              <a:buNone/>
            </a:pPr>
            <a:r>
              <a:rPr b="1" dirty="0" sz="2400" i="0">
                <a:latin typeface="Times New Roman"/>
              </a:rPr>
              <a:t>Module 4 – </a:t>
            </a:r>
            <a:r>
              <a:rPr b="1" dirty="0" sz="2400" i="0">
                <a:solidFill>
                  <a:schemeClr val="tx2"/>
                </a:solidFill>
                <a:latin typeface="Times New Roman"/>
              </a:rPr>
              <a:t>Data Preprocessing</a:t>
            </a:r>
          </a:p>
          <a:p>
            <a:pPr algn="ctr"/>
            <a:r>
              <a:rPr dirty="0" sz="2400" i="0" lang="en-US">
                <a:latin typeface="Times New Roman"/>
              </a:rPr>
              <a:t>        </a:t>
            </a:r>
            <a:r>
              <a:rPr dirty="0" sz="2400" i="0">
                <a:latin typeface="Times New Roman"/>
              </a:rPr>
              <a:t>Standardize dates, amounts, and categories.</a:t>
            </a:r>
            <a:endParaRPr dirty="0" sz="2400" lang="en-US">
              <a:latin typeface="Times New Roman"/>
            </a:endParaRPr>
          </a:p>
          <a:p>
            <a:pPr algn="l"/>
            <a:r>
              <a:rPr dirty="0" sz="2400" i="0" lang="en-US">
                <a:latin typeface="Times New Roman"/>
              </a:rPr>
              <a:t>                          </a:t>
            </a:r>
            <a:r>
              <a:rPr dirty="0" sz="2400" lang="en-US">
                <a:latin typeface="Times New Roman"/>
              </a:rPr>
              <a:t> </a:t>
            </a:r>
            <a:r>
              <a:rPr dirty="0" sz="2400" i="0">
                <a:latin typeface="Times New Roman"/>
              </a:rPr>
              <a:t>Prepare categorical fields for analysis</a:t>
            </a:r>
            <a:r>
              <a:rPr b="1" dirty="0" sz="2400" i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extBox 2"/>
          <p:cNvSpPr txBox="1"/>
          <p:nvPr/>
        </p:nvSpPr>
        <p:spPr>
          <a:xfrm>
            <a:off x="2414826" y="437450"/>
            <a:ext cx="5120640" cy="400110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0" sz="2000" i="0">
                <a:latin typeface="Times New Roman"/>
              </a:rPr>
              <a:t>METHODOLOGY</a:t>
            </a:r>
          </a:p>
        </p:txBody>
      </p:sp>
      <p:grpSp>
        <p:nvGrpSpPr>
          <p:cNvPr id="48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097192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93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94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3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endParaRPr sz="2000"/>
            </a:p>
          </p:txBody>
        </p:sp>
      </p:grpSp>
      <p:sp>
        <p:nvSpPr>
          <p:cNvPr id="1048640" name="TextBox 24"/>
          <p:cNvSpPr txBox="1"/>
          <p:nvPr/>
        </p:nvSpPr>
        <p:spPr>
          <a:xfrm>
            <a:off x="2628152" y="391626"/>
            <a:ext cx="5029200" cy="400110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sz="2000" i="0">
                <a:solidFill>
                  <a:schemeClr val="bg1"/>
                </a:solidFill>
                <a:latin typeface="Times New Roman"/>
              </a:rPr>
              <a:t>METHODOLOGY</a:t>
            </a:r>
          </a:p>
        </p:txBody>
      </p:sp>
      <p:sp>
        <p:nvSpPr>
          <p:cNvPr id="1048641" name="TextBox 26"/>
          <p:cNvSpPr txBox="1"/>
          <p:nvPr/>
        </p:nvSpPr>
        <p:spPr>
          <a:xfrm>
            <a:off x="457200" y="1011436"/>
            <a:ext cx="10223335" cy="1200329"/>
          </a:xfrm>
          <a:prstGeom prst="rect"/>
          <a:noFill/>
        </p:spPr>
        <p:txBody>
          <a:bodyPr wrap="square">
            <a:spAutoFit/>
          </a:bodyPr>
          <a:p>
            <a:pPr algn="l">
              <a:buNone/>
            </a:pPr>
            <a:r>
              <a:rPr b="1" dirty="0" sz="2400" i="0">
                <a:latin typeface="Times New Roman"/>
              </a:rPr>
              <a:t>Module 5 – </a:t>
            </a:r>
            <a:r>
              <a:rPr b="1" dirty="0" sz="2400" i="0">
                <a:solidFill>
                  <a:schemeClr val="tx2"/>
                </a:solidFill>
                <a:latin typeface="Times New Roman"/>
              </a:rPr>
              <a:t>Exploratory Data Analysis (EDA)</a:t>
            </a:r>
            <a:r>
              <a:rPr b="1" dirty="0" sz="2400" i="0" lang="en-US">
                <a:solidFill>
                  <a:schemeClr val="tx2"/>
                </a:solidFill>
                <a:latin typeface="Times New Roman"/>
              </a:rPr>
              <a:t> </a:t>
            </a:r>
          </a:p>
          <a:p>
            <a:pPr algn="l">
              <a:buNone/>
            </a:pPr>
            <a:r>
              <a:rPr b="1" dirty="0" sz="2400" lang="en-US">
                <a:latin typeface="Times New Roman"/>
              </a:rPr>
              <a:t>                          </a:t>
            </a:r>
            <a:r>
              <a:rPr dirty="0" sz="2400" i="0">
                <a:latin typeface="Times New Roman"/>
              </a:rPr>
              <a:t>Analyze income and expense distributions.</a:t>
            </a:r>
            <a:r>
              <a:rPr dirty="0" sz="2400" i="0" lang="en-US">
                <a:latin typeface="Times New Roman"/>
              </a:rPr>
              <a:t> </a:t>
            </a:r>
          </a:p>
          <a:p>
            <a:pPr algn="l">
              <a:buNone/>
            </a:pPr>
            <a:r>
              <a:rPr dirty="0" sz="2400" lang="en-US">
                <a:latin typeface="Times New Roman"/>
              </a:rPr>
              <a:t>                         </a:t>
            </a:r>
            <a:r>
              <a:rPr dirty="0" sz="2400" i="0" lang="en-US">
                <a:latin typeface="Times New Roman"/>
              </a:rPr>
              <a:t> </a:t>
            </a:r>
            <a:r>
              <a:rPr dirty="0" sz="2400" i="0">
                <a:latin typeface="Times New Roman"/>
              </a:rPr>
              <a:t>Explore category-wise spending and savings.</a:t>
            </a:r>
          </a:p>
        </p:txBody>
      </p:sp>
      <p:sp>
        <p:nvSpPr>
          <p:cNvPr id="1048642" name="Arrow: Down 28"/>
          <p:cNvSpPr/>
          <p:nvPr/>
        </p:nvSpPr>
        <p:spPr>
          <a:xfrm>
            <a:off x="4850336" y="2242125"/>
            <a:ext cx="357728" cy="311657"/>
          </a:xfrm>
          <a:prstGeom prst="downArrow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algn="tl" blurRad="38100" dir="2700000" dist="19050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8643" name="TextBox 30"/>
          <p:cNvSpPr txBox="1"/>
          <p:nvPr/>
        </p:nvSpPr>
        <p:spPr>
          <a:xfrm>
            <a:off x="457200" y="2584142"/>
            <a:ext cx="8305800" cy="1200329"/>
          </a:xfrm>
          <a:prstGeom prst="rect"/>
          <a:noFill/>
        </p:spPr>
        <p:txBody>
          <a:bodyPr wrap="square">
            <a:spAutoFit/>
          </a:bodyPr>
          <a:p>
            <a:pPr algn="l">
              <a:buNone/>
            </a:pPr>
            <a:r>
              <a:rPr b="1" dirty="0" sz="2400" i="0">
                <a:latin typeface="Times New Roman"/>
              </a:rPr>
              <a:t>Module 6 – </a:t>
            </a:r>
            <a:r>
              <a:rPr b="1" dirty="0" sz="2400" i="0">
                <a:solidFill>
                  <a:schemeClr val="tx2"/>
                </a:solidFill>
                <a:latin typeface="Times New Roman"/>
              </a:rPr>
              <a:t>Trend Analysis</a:t>
            </a:r>
          </a:p>
          <a:p>
            <a:r>
              <a:rPr dirty="0" sz="2400" i="0" lang="en-US">
                <a:latin typeface="Times New Roman"/>
              </a:rPr>
              <a:t>                         </a:t>
            </a:r>
            <a:r>
              <a:rPr dirty="0" sz="2400" i="0">
                <a:latin typeface="Times New Roman"/>
              </a:rPr>
              <a:t>Analyze monthly income and expense trends.</a:t>
            </a:r>
          </a:p>
          <a:p>
            <a:r>
              <a:rPr dirty="0" sz="2400" i="0" lang="en-US">
                <a:latin typeface="Times New Roman"/>
              </a:rPr>
              <a:t>                         </a:t>
            </a:r>
            <a:r>
              <a:rPr dirty="0" sz="2400" i="0">
                <a:latin typeface="Times New Roman"/>
              </a:rPr>
              <a:t>Identify budget gaps and recurring patterns.</a:t>
            </a:r>
          </a:p>
        </p:txBody>
      </p:sp>
      <p:sp>
        <p:nvSpPr>
          <p:cNvPr id="1048644" name="Arrow: Down 32"/>
          <p:cNvSpPr/>
          <p:nvPr/>
        </p:nvSpPr>
        <p:spPr>
          <a:xfrm>
            <a:off x="4850336" y="3959586"/>
            <a:ext cx="357728" cy="311657"/>
          </a:xfrm>
          <a:prstGeom prst="downArrow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algn="tl" blurRad="38100" dir="2700000" dist="19050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8645" name="TextBox 34"/>
          <p:cNvSpPr txBox="1"/>
          <p:nvPr/>
        </p:nvSpPr>
        <p:spPr>
          <a:xfrm>
            <a:off x="498022" y="4259615"/>
            <a:ext cx="8954248" cy="1200329"/>
          </a:xfrm>
          <a:prstGeom prst="rect"/>
          <a:noFill/>
        </p:spPr>
        <p:txBody>
          <a:bodyPr wrap="square">
            <a:spAutoFit/>
          </a:bodyPr>
          <a:p>
            <a:pPr algn="l">
              <a:buNone/>
            </a:pPr>
            <a:r>
              <a:rPr b="1" dirty="0" sz="2400" i="0">
                <a:latin typeface="Times New Roman"/>
              </a:rPr>
              <a:t>Module 7 – </a:t>
            </a:r>
            <a:r>
              <a:rPr b="1" dirty="0" sz="2400" i="0">
                <a:solidFill>
                  <a:schemeClr val="tx2"/>
                </a:solidFill>
                <a:latin typeface="Times New Roman"/>
              </a:rPr>
              <a:t>Data Visualization</a:t>
            </a:r>
          </a:p>
          <a:p>
            <a:r>
              <a:rPr dirty="0" sz="2400" i="0" lang="en-US">
                <a:latin typeface="Times New Roman"/>
              </a:rPr>
              <a:t>                        </a:t>
            </a:r>
            <a:r>
              <a:rPr dirty="0" sz="2400" i="0">
                <a:latin typeface="Times New Roman"/>
              </a:rPr>
              <a:t>Create bar charts and pie charts.</a:t>
            </a:r>
          </a:p>
          <a:p>
            <a:r>
              <a:rPr dirty="0" sz="2400" i="0" lang="en-US">
                <a:latin typeface="Times New Roman"/>
              </a:rPr>
              <a:t>                        </a:t>
            </a:r>
            <a:r>
              <a:rPr dirty="0" sz="2400" i="0">
                <a:latin typeface="Times New Roman"/>
              </a:rPr>
              <a:t>Use line charts to show financial trends.</a:t>
            </a:r>
          </a:p>
        </p:txBody>
      </p:sp>
      <p:sp>
        <p:nvSpPr>
          <p:cNvPr id="1048646" name="Arrow: Down 36"/>
          <p:cNvSpPr/>
          <p:nvPr/>
        </p:nvSpPr>
        <p:spPr>
          <a:xfrm>
            <a:off x="4850336" y="5576154"/>
            <a:ext cx="357728" cy="311657"/>
          </a:xfrm>
          <a:prstGeom prst="downArrow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algn="tl" blurRad="38100" dir="2700000" dist="19050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8647" name="TextBox 38"/>
          <p:cNvSpPr txBox="1"/>
          <p:nvPr/>
        </p:nvSpPr>
        <p:spPr>
          <a:xfrm>
            <a:off x="457200" y="6131378"/>
            <a:ext cx="9982200" cy="1200329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sz="2400" i="0">
                <a:latin typeface="Times New Roman"/>
              </a:rPr>
              <a:t>Module 8 – </a:t>
            </a:r>
            <a:r>
              <a:rPr b="1" dirty="0" sz="2400" i="0">
                <a:solidFill>
                  <a:schemeClr val="tx2"/>
                </a:solidFill>
                <a:latin typeface="Times New Roman"/>
              </a:rPr>
              <a:t>Advanced Visualization</a:t>
            </a:r>
          </a:p>
          <a:p>
            <a:r>
              <a:rPr dirty="0" sz="2400" i="0" lang="en-US">
                <a:latin typeface="Times New Roman"/>
              </a:rPr>
              <a:t>                        </a:t>
            </a:r>
            <a:r>
              <a:rPr dirty="0" sz="2400" i="0">
                <a:latin typeface="Times New Roman"/>
              </a:rPr>
              <a:t>Use histograms to analyze distributions.</a:t>
            </a:r>
          </a:p>
          <a:p>
            <a:r>
              <a:rPr b="1" dirty="0" sz="2400" i="0" lang="en-US">
                <a:latin typeface="Times New Roman"/>
              </a:rPr>
              <a:t>                        </a:t>
            </a:r>
            <a:r>
              <a:rPr dirty="0" sz="2400" i="0">
                <a:latin typeface="Times New Roman"/>
              </a:rPr>
              <a:t>Create heatmaps to identify relationships and correlations.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object 3"/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097195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196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197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51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r>
                <a:rPr dirty="0" 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b="1" dirty="0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48652" name="TextBox 24"/>
          <p:cNvSpPr txBox="1"/>
          <p:nvPr/>
        </p:nvSpPr>
        <p:spPr>
          <a:xfrm>
            <a:off x="2468880" y="396841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Data Visualization</a:t>
            </a:r>
            <a:endParaRPr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53" name="TextBox 25"/>
          <p:cNvSpPr txBox="1"/>
          <p:nvPr/>
        </p:nvSpPr>
        <p:spPr>
          <a:xfrm>
            <a:off x="411480" y="1234440"/>
            <a:ext cx="4586512" cy="292388"/>
          </a:xfrm>
          <a:prstGeom prst="rect"/>
          <a:noFill/>
        </p:spPr>
        <p:txBody>
          <a:bodyPr wrap="none">
            <a:spAutoFit/>
          </a:bodyPr>
          <a:p>
            <a:r>
              <a:rPr b="0" dirty="0" sz="1300" i="1">
                <a:latin typeface="Times New Roman"/>
              </a:rPr>
              <a:t>Illustrative charts — generate these using your own project's data</a:t>
            </a:r>
          </a:p>
        </p:txBody>
      </p:sp>
      <p:pic>
        <p:nvPicPr>
          <p:cNvPr id="2097198" name="Picture 29" descr="4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029200" y="4709160"/>
            <a:ext cx="4480560" cy="2926080"/>
          </a:xfrm>
          <a:prstGeom prst="rect"/>
        </p:spPr>
      </p:pic>
      <p:pic>
        <p:nvPicPr>
          <p:cNvPr id="2097199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307016" y="1675060"/>
            <a:ext cx="4508500" cy="2705100"/>
          </a:xfrm>
          <a:prstGeom prst="rect"/>
        </p:spPr>
      </p:pic>
      <p:pic>
        <p:nvPicPr>
          <p:cNvPr id="2097200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480493" y="4819980"/>
            <a:ext cx="4692100" cy="2815260"/>
          </a:xfrm>
          <a:prstGeom prst="rect"/>
        </p:spPr>
      </p:pic>
      <p:pic>
        <p:nvPicPr>
          <p:cNvPr id="2097201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5142752" y="1646522"/>
            <a:ext cx="4546042" cy="2727625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object 3"/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2097202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203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204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54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r>
                <a:rPr dirty="0" 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b="1" dirty="0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48655" name="TextBox 8"/>
          <p:cNvSpPr txBox="1"/>
          <p:nvPr/>
        </p:nvSpPr>
        <p:spPr>
          <a:xfrm>
            <a:off x="3431172" y="195632"/>
            <a:ext cx="3265998" cy="43088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2200" i="0">
                <a:solidFill>
                  <a:schemeClr val="bg1"/>
                </a:solidFill>
                <a:latin typeface="Times New Roman"/>
              </a:rPr>
              <a:t>Key Insights &amp; Analysis</a:t>
            </a:r>
          </a:p>
        </p:txBody>
      </p:sp>
      <p:sp>
        <p:nvSpPr>
          <p:cNvPr id="1048656" name="TextBox 9"/>
          <p:cNvSpPr txBox="1"/>
          <p:nvPr/>
        </p:nvSpPr>
        <p:spPr>
          <a:xfrm>
            <a:off x="548640" y="1554480"/>
            <a:ext cx="8961120" cy="4703852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</a:pPr>
            <a:r>
              <a:rPr b="0" dirty="0" sz="2400" i="0">
                <a:latin typeface="Times New Roman"/>
              </a:rPr>
              <a:t>• Category-wise analysis identifies where most of the money is being </a:t>
            </a:r>
            <a:r>
              <a:rPr b="0" dirty="0" sz="2400" i="0" lang="en-US">
                <a:latin typeface="Times New Roman"/>
              </a:rPr>
              <a:t>          </a:t>
            </a:r>
            <a:r>
              <a:rPr b="0" dirty="0" sz="2400" i="0">
                <a:latin typeface="Times New Roman"/>
              </a:rPr>
              <a:t>spent.</a:t>
            </a:r>
          </a:p>
          <a:p>
            <a:r>
              <a:rPr b="0" dirty="0" sz="2400" i="0">
                <a:latin typeface="Times New Roman"/>
              </a:rPr>
              <a:t>• Monthly trends reveal periods of higher or lower cash outflow.</a:t>
            </a:r>
          </a:p>
          <a:p>
            <a:r>
              <a:rPr b="0" dirty="0" sz="2400" i="0">
                <a:latin typeface="Times New Roman"/>
              </a:rPr>
              <a:t>• Savings analysis shows how much income remains after expenses.</a:t>
            </a:r>
          </a:p>
          <a:p>
            <a:r>
              <a:rPr b="0" dirty="0" sz="2400" i="0">
                <a:latin typeface="Times New Roman"/>
              </a:rPr>
              <a:t>• Budget variance highlights categories where actual spending differs from planned spending.</a:t>
            </a:r>
          </a:p>
          <a:p>
            <a:r>
              <a:rPr b="0" dirty="0" sz="2400" i="0">
                <a:latin typeface="Times New Roman"/>
              </a:rPr>
              <a:t>• Recurring transactions reveal regular bills, subscriptions, and repeated commitments.</a:t>
            </a:r>
          </a:p>
          <a:p>
            <a:r>
              <a:rPr b="0" dirty="0" sz="2400" i="0">
                <a:latin typeface="Times New Roman"/>
              </a:rPr>
              <a:t>• These patterns guide the visualizations and financial insights produced by the project.</a:t>
            </a:r>
          </a:p>
          <a:p>
            <a:r>
              <a:rPr b="0" dirty="0" sz="2400" i="0">
                <a:latin typeface="Times New Roman"/>
              </a:rPr>
              <a:t>• Replace these findings with the actual patterns, numbers, and charts generated from your dataset.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object 3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2097205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206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207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57" name="object 7"/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>
              <a:r>
                <a:rPr dirty="0" lang="en-US"/>
                <a:t>                     </a:t>
              </a:r>
              <a:endParaRPr dirty="0" sz="2800">
                <a:solidFill>
                  <a:schemeClr val="bg1"/>
                </a:solidFill>
              </a:endParaRPr>
            </a:p>
          </p:txBody>
        </p:sp>
      </p:grpSp>
      <p:sp>
        <p:nvSpPr>
          <p:cNvPr id="1048658" name="TextBox 11"/>
          <p:cNvSpPr txBox="1"/>
          <p:nvPr/>
        </p:nvSpPr>
        <p:spPr>
          <a:xfrm>
            <a:off x="2477248" y="393846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dirty="0" i="0">
                <a:solidFill>
                  <a:schemeClr val="bg1"/>
                </a:solidFill>
                <a:latin typeface="Times New Roman"/>
              </a:rPr>
              <a:t>Implementation Workflow</a:t>
            </a:r>
          </a:p>
        </p:txBody>
      </p:sp>
      <p:sp>
        <p:nvSpPr>
          <p:cNvPr id="1048659" name="TextBox 12"/>
          <p:cNvSpPr txBox="1"/>
          <p:nvPr/>
        </p:nvSpPr>
        <p:spPr>
          <a:xfrm>
            <a:off x="411480" y="1234440"/>
            <a:ext cx="9144000" cy="365760"/>
          </a:xfrm>
          <a:prstGeom prst="rect"/>
          <a:noFill/>
        </p:spPr>
        <p:txBody>
          <a:bodyPr wrap="none">
            <a:spAutoFit/>
          </a:bodyPr>
          <a:p>
            <a:pPr algn="ctr"/>
            <a:r>
              <a:rPr b="0" sz="1300" i="1">
                <a:latin typeface="Times New Roman"/>
              </a:rPr>
              <a:t>From raw financial data to actionable insights — adapt these stages to your own project</a:t>
            </a:r>
          </a:p>
        </p:txBody>
      </p:sp>
      <p:sp>
        <p:nvSpPr>
          <p:cNvPr id="1048660" name="Chevron 13"/>
          <p:cNvSpPr/>
          <p:nvPr/>
        </p:nvSpPr>
        <p:spPr>
          <a:xfrm>
            <a:off x="365760" y="1965960"/>
            <a:ext cx="3246120" cy="960120"/>
          </a:xfrm>
          <a:prstGeom prst="chevron"/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/>
          <a:p>
            <a:pPr algn="l"/>
            <a:r>
              <a:rPr b="1" dirty="0" sz="1300" i="0" lang="en-US">
                <a:latin typeface="Times New Roman"/>
              </a:rPr>
              <a:t>       </a:t>
            </a:r>
            <a:r>
              <a:rPr b="1" dirty="0" sz="1300" i="0">
                <a:latin typeface="Times New Roman"/>
              </a:rPr>
              <a:t>1. Data</a:t>
            </a:r>
            <a:r>
              <a:rPr b="1" dirty="0" sz="1300" i="0" lang="en-US">
                <a:latin typeface="Times New Roman"/>
              </a:rPr>
              <a:t> </a:t>
            </a:r>
            <a:r>
              <a:rPr b="1" dirty="0" sz="1300" i="0">
                <a:latin typeface="Times New Roman"/>
              </a:rPr>
              <a:t>Collection</a:t>
            </a:r>
          </a:p>
        </p:txBody>
      </p:sp>
      <p:sp>
        <p:nvSpPr>
          <p:cNvPr id="1048661" name="Chevron 14"/>
          <p:cNvSpPr/>
          <p:nvPr/>
        </p:nvSpPr>
        <p:spPr>
          <a:xfrm>
            <a:off x="3291839" y="1965960"/>
            <a:ext cx="3246120" cy="960120"/>
          </a:xfrm>
          <a:prstGeom prst="chevron"/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/>
          <a:p>
            <a:pPr algn="l"/>
            <a:r>
              <a:rPr b="1" dirty="0" sz="1300" i="0" lang="en-US">
                <a:latin typeface="Times New Roman"/>
              </a:rPr>
              <a:t>        </a:t>
            </a:r>
            <a:r>
              <a:rPr b="1" dirty="0" sz="1300" i="0">
                <a:latin typeface="Times New Roman"/>
              </a:rPr>
              <a:t>2. </a:t>
            </a:r>
            <a:r>
              <a:rPr b="1" dirty="0" sz="1300" lang="en-US">
                <a:latin typeface="Times New Roman"/>
              </a:rPr>
              <a:t>Data </a:t>
            </a:r>
            <a:r>
              <a:rPr b="1" dirty="0" sz="1300" i="0">
                <a:latin typeface="Times New Roman"/>
              </a:rPr>
              <a:t>Cleaning</a:t>
            </a:r>
          </a:p>
        </p:txBody>
      </p:sp>
      <p:sp>
        <p:nvSpPr>
          <p:cNvPr id="1048662" name="Chevron 15"/>
          <p:cNvSpPr/>
          <p:nvPr/>
        </p:nvSpPr>
        <p:spPr>
          <a:xfrm>
            <a:off x="6217920" y="1965960"/>
            <a:ext cx="3246120" cy="960120"/>
          </a:xfrm>
          <a:prstGeom prst="chevron"/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/>
          <a:p>
            <a:pPr algn="l"/>
            <a:r>
              <a:rPr b="1" dirty="0" sz="1300" i="0" lang="en-US">
                <a:latin typeface="Times New Roman"/>
              </a:rPr>
              <a:t>         </a:t>
            </a:r>
            <a:r>
              <a:rPr b="1" dirty="0" sz="1300" i="0">
                <a:latin typeface="Times New Roman"/>
              </a:rPr>
              <a:t>3. Pre-</a:t>
            </a:r>
            <a:r>
              <a:rPr b="1" dirty="0" sz="1300" i="0" lang="en-US">
                <a:latin typeface="Times New Roman"/>
              </a:rPr>
              <a:t> </a:t>
            </a:r>
            <a:r>
              <a:rPr b="1" dirty="0" sz="1300" i="0">
                <a:latin typeface="Times New Roman"/>
              </a:rPr>
              <a:t>processing</a:t>
            </a:r>
          </a:p>
        </p:txBody>
      </p:sp>
      <p:sp>
        <p:nvSpPr>
          <p:cNvPr id="1048663" name="Chevron 16"/>
          <p:cNvSpPr/>
          <p:nvPr/>
        </p:nvSpPr>
        <p:spPr>
          <a:xfrm>
            <a:off x="365760" y="3703320"/>
            <a:ext cx="3246120" cy="960120"/>
          </a:xfrm>
          <a:prstGeom prst="chevron"/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/>
          <a:p>
            <a:pPr algn="ctr"/>
            <a:r>
              <a:rPr b="1" sz="1300" i="0">
                <a:latin typeface="Times New Roman"/>
              </a:rPr>
              <a:t>4. EDA</a:t>
            </a:r>
          </a:p>
        </p:txBody>
      </p:sp>
      <p:sp>
        <p:nvSpPr>
          <p:cNvPr id="1048664" name="Chevron 17"/>
          <p:cNvSpPr/>
          <p:nvPr/>
        </p:nvSpPr>
        <p:spPr>
          <a:xfrm>
            <a:off x="3291839" y="3703320"/>
            <a:ext cx="3246120" cy="960120"/>
          </a:xfrm>
          <a:prstGeom prst="chevron"/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/>
          <a:p>
            <a:pPr algn="ctr"/>
            <a:r>
              <a:rPr b="1" sz="1300" i="0">
                <a:latin typeface="Times New Roman"/>
              </a:rPr>
              <a:t>5. Visualization</a:t>
            </a:r>
          </a:p>
        </p:txBody>
      </p:sp>
      <p:sp>
        <p:nvSpPr>
          <p:cNvPr id="1048665" name="Chevron 18"/>
          <p:cNvSpPr/>
          <p:nvPr/>
        </p:nvSpPr>
        <p:spPr>
          <a:xfrm>
            <a:off x="6217920" y="3703320"/>
            <a:ext cx="3246120" cy="960120"/>
          </a:xfrm>
          <a:prstGeom prst="chevron"/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 wrap="square"/>
          <a:p>
            <a:pPr algn="l"/>
            <a:r>
              <a:rPr b="1" dirty="0" sz="1300" i="0" lang="en-US">
                <a:latin typeface="Times New Roman"/>
              </a:rPr>
              <a:t>       </a:t>
            </a:r>
            <a:r>
              <a:rPr b="1" dirty="0" sz="1300" i="0">
                <a:latin typeface="Times New Roman"/>
              </a:rPr>
              <a:t>6. Insi</a:t>
            </a:r>
            <a:r>
              <a:rPr b="1" dirty="0" sz="1300" i="0" lang="en-US">
                <a:latin typeface="Times New Roman"/>
              </a:rPr>
              <a:t>ght &amp; </a:t>
            </a:r>
            <a:r>
              <a:rPr b="1" dirty="0" sz="1300" i="0">
                <a:latin typeface="Times New Roman"/>
              </a:rPr>
              <a:t>Report</a:t>
            </a:r>
          </a:p>
        </p:txBody>
      </p:sp>
      <p:sp>
        <p:nvSpPr>
          <p:cNvPr id="1048666" name="Down Arrow 19"/>
          <p:cNvSpPr/>
          <p:nvPr/>
        </p:nvSpPr>
        <p:spPr>
          <a:xfrm>
            <a:off x="4572000" y="2999232"/>
            <a:ext cx="640080" cy="640080"/>
          </a:xfrm>
          <a:prstGeom prst="downArrow"/>
          <a:solidFill>
            <a:srgbClr val="C25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7" name="TextBox 20"/>
          <p:cNvSpPr txBox="1"/>
          <p:nvPr/>
        </p:nvSpPr>
        <p:spPr>
          <a:xfrm>
            <a:off x="411480" y="5074920"/>
            <a:ext cx="9144000" cy="457200"/>
          </a:xfrm>
          <a:prstGeom prst="rect"/>
          <a:noFill/>
        </p:spPr>
        <p:txBody>
          <a:bodyPr wrap="none">
            <a:spAutoFit/>
          </a:bodyPr>
          <a:p>
            <a:pPr algn="ctr"/>
            <a:r>
              <a:rPr b="0" sz="1300" i="1">
                <a:latin typeface="Times New Roman"/>
              </a:rPr>
              <a:t>Output: cleaned dataset → financial charts → a short set of actionable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object 3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2097208" name="object 4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/>
          </p:spPr>
        </p:pic>
        <p:pic>
          <p:nvPicPr>
            <p:cNvPr id="2097209" name="object 5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/>
          </p:spPr>
        </p:pic>
        <p:pic>
          <p:nvPicPr>
            <p:cNvPr id="2097210" name="object 6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/>
          </p:spPr>
        </p:pic>
        <p:sp>
          <p:nvSpPr>
            <p:cNvPr id="104866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ah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bIns="0" lIns="0" rIns="0" rtlCol="0" tIns="0" wrap="square"/>
            <a:p/>
          </p:txBody>
        </p:sp>
      </p:grpSp>
      <p:pic>
        <p:nvPicPr>
          <p:cNvPr id="2097211" name="object 3"/>
          <p:cNvPicPr>
            <a:picLocks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  <p:sp>
        <p:nvSpPr>
          <p:cNvPr id="1048669" name="TextBox 13"/>
          <p:cNvSpPr txBox="1"/>
          <p:nvPr/>
        </p:nvSpPr>
        <p:spPr>
          <a:xfrm>
            <a:off x="2488870" y="368446"/>
            <a:ext cx="5120640" cy="430887"/>
          </a:xfrm>
          <a:prstGeom prst="rect"/>
          <a:noFill/>
        </p:spPr>
        <p:txBody>
          <a:bodyPr wrap="square">
            <a:spAutoFit/>
          </a:bodyPr>
          <a:p>
            <a:pPr algn="ctr">
              <a:spcAft>
                <a:spcPts val="700"/>
              </a:spcAft>
              <a:defRPr b="1" sz="2200">
                <a:solidFill>
                  <a:srgbClr val="233464"/>
                </a:solidFill>
                <a:latin typeface="Aptos"/>
              </a:defRPr>
            </a:pPr>
            <a:r>
              <a:rPr b="1" dirty="0" i="0">
                <a:solidFill>
                  <a:schemeClr val="bg1"/>
                </a:solidFill>
                <a:latin typeface="Times New Roman"/>
              </a:rPr>
              <a:t>CONCLUSION</a:t>
            </a:r>
          </a:p>
        </p:txBody>
      </p:sp>
      <p:sp>
        <p:nvSpPr>
          <p:cNvPr id="1048670" name="TextBox 14"/>
          <p:cNvSpPr txBox="1"/>
          <p:nvPr/>
        </p:nvSpPr>
        <p:spPr>
          <a:xfrm>
            <a:off x="777240" y="1463040"/>
            <a:ext cx="8412480" cy="4244752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0" sz="2000">
                <a:solidFill>
                  <a:srgbClr val="2D2D2D"/>
                </a:solidFill>
                <a:latin typeface="Aptos"/>
              </a:defRPr>
            </a:pPr>
            <a:r>
              <a:rPr b="0" dirty="0" sz="2400" i="0">
                <a:latin typeface="Times New Roman"/>
              </a:rPr>
              <a:t>• This project demonstrates a complete data-analytics workflow — from raw personal finance data to actionable insights — using Python.</a:t>
            </a:r>
          </a:p>
          <a:p>
            <a:r>
              <a:rPr b="0" dirty="0" sz="2400" i="0">
                <a:latin typeface="Times New Roman"/>
              </a:rPr>
              <a:t>• Data cleaning and preprocessing improve the reliability of financial analysis.</a:t>
            </a:r>
          </a:p>
          <a:p>
            <a:r>
              <a:rPr b="0" dirty="0" sz="2400" i="0">
                <a:latin typeface="Times New Roman"/>
              </a:rPr>
              <a:t>• Well-chosen visualizations make spending patterns and trends easier to communicate than raw tables.</a:t>
            </a:r>
          </a:p>
          <a:p>
            <a:r>
              <a:rPr b="0" dirty="0" sz="2400" i="0">
                <a:latin typeface="Times New Roman"/>
              </a:rPr>
              <a:t>• EDA helps identify spending categories, savings </a:t>
            </a:r>
            <a:r>
              <a:rPr b="0" dirty="0" sz="2400" i="0" err="1">
                <a:latin typeface="Times New Roman"/>
              </a:rPr>
              <a:t>behaviour</a:t>
            </a:r>
            <a:r>
              <a:rPr b="0" dirty="0" sz="2400" i="0">
                <a:latin typeface="Times New Roman"/>
              </a:rPr>
              <a:t>, budget gaps, and recurring expenses.</a:t>
            </a:r>
          </a:p>
          <a:p>
            <a:r>
              <a:rPr b="0" dirty="0" sz="2400" i="0">
                <a:latin typeface="Times New Roman"/>
              </a:rPr>
              <a:t>• Replace the illustrative dataset, charts, and findings above with your team's actual project data.</a:t>
            </a:r>
          </a:p>
        </p:txBody>
      </p:sp>
      <p:sp>
        <p:nvSpPr>
          <p:cNvPr id="1048671" name="TextBox 15"/>
          <p:cNvSpPr txBox="1"/>
          <p:nvPr/>
        </p:nvSpPr>
        <p:spPr>
          <a:xfrm>
            <a:off x="872251" y="6126486"/>
            <a:ext cx="8138160" cy="1231106"/>
          </a:xfrm>
          <a:prstGeom prst="rect"/>
          <a:noFill/>
        </p:spPr>
        <p:txBody>
          <a:bodyPr wrap="square">
            <a:spAutoFit/>
          </a:bodyPr>
          <a:p>
            <a:pPr algn="l">
              <a:spcAft>
                <a:spcPts val="700"/>
              </a:spcAft>
              <a:defRPr b="1" sz="1600">
                <a:solidFill>
                  <a:srgbClr val="C25B30"/>
                </a:solidFill>
                <a:latin typeface="Aptos"/>
              </a:defRPr>
            </a:pPr>
            <a:r>
              <a:rPr b="0" dirty="0" sz="2600" i="0">
                <a:latin typeface="Times New Roman"/>
              </a:rPr>
              <a:t>Future scope: </a:t>
            </a:r>
            <a:r>
              <a:rPr b="0" dirty="0" sz="2400" i="0">
                <a:latin typeface="Times New Roman"/>
              </a:rPr>
              <a:t>automated transaction import, smart categorization, alerts, forecasting, interactive dashboards, and financial goal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77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0058400" cy="77724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 useBgFill="1">
        <p:nvSpPr>
          <p:cNvPr id="1048678" name="Freeform: Shape 2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algn="ctr" blurRad="139700" rotWithShape="0" sx="102000" sy="10200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8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48679" name="Freeform: Shape 2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8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80" name="TextBox 2"/>
          <p:cNvSpPr txBox="1"/>
          <p:nvPr/>
        </p:nvSpPr>
        <p:spPr>
          <a:xfrm>
            <a:off x="1257302" y="2266230"/>
            <a:ext cx="7543800" cy="3132565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b="1" sz="3400">
                <a:solidFill>
                  <a:srgbClr val="233464"/>
                </a:solidFill>
                <a:latin typeface="Aptos"/>
              </a:defRPr>
            </a:pPr>
            <a:r>
              <a:rPr b="0" sz="3600" i="0">
                <a:latin typeface="Times New Roman"/>
              </a:rPr>
              <a:t>THANK YOU</a:t>
            </a:r>
          </a:p>
        </p:txBody>
      </p:sp>
      <p:sp>
        <p:nvSpPr>
          <p:cNvPr id="1048681" name="Rectangle 2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3067812" y="6261424"/>
            <a:ext cx="3922776" cy="31089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8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97212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Zeroth Review</dc:title>
  <dc:creator>RESHMA BASAPATHI</dc:creator>
  <cp:lastModifiedBy>26B21CS063</cp:lastModifiedBy>
  <dcterms:created xsi:type="dcterms:W3CDTF">2025-10-09T21:28:06Z</dcterms:created>
  <dcterms:modified xsi:type="dcterms:W3CDTF">2026-09-30T08:06:41Z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  <property fmtid="{D5CDD505-2E9C-101B-9397-08002B2CF9AE}" pid="4" name="ICV">
    <vt:lpwstr>852d8877f67d4cd6897efd673cb717a3_23</vt:lpwstr>
  </property>
</Properties>
</file>